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85737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9" autoAdjust="0"/>
    <p:restoredTop sz="91480" autoAdjust="0"/>
  </p:normalViewPr>
  <p:slideViewPr>
    <p:cSldViewPr snapToGrid="0">
      <p:cViewPr varScale="1">
        <p:scale>
          <a:sx n="105" d="100"/>
          <a:sy n="105" d="100"/>
        </p:scale>
        <p:origin x="78" y="11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Technology Trends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Markos Gkikas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4/17/26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/>
              <a:t>Key Findings</a:t>
            </a:r>
            <a:endParaRPr lang="en-GB" sz="2400" dirty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GB" sz="2000" dirty="0"/>
              <a:t>JavaScript and SQL Lead Current Language Usage 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GB" sz="2000" dirty="0"/>
              <a:t>Rising Interest in Rust and Go for the Future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GB" sz="2000" dirty="0"/>
              <a:t>PostgreSQL Dominates Database Preferences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GB" sz="2000" dirty="0"/>
              <a:t>AWS and Google Cloud Lead Platform Adoption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GB" sz="2000" dirty="0"/>
              <a:t>Demographic Concentration in the 25-34 Age Group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1"/>
                </a:solidFill>
              </a:rPr>
              <a:t>Purpose of the Report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This report aims to analyze “Current and Future Technology Trends” among developers.</a:t>
            </a:r>
          </a:p>
          <a:p>
            <a:r>
              <a:rPr lang="en-GB" sz="2000" b="1" dirty="0">
                <a:solidFill>
                  <a:schemeClr val="tx1"/>
                </a:solidFill>
              </a:rPr>
              <a:t>Target Audience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/>
                </a:solidFill>
              </a:rPr>
              <a:t>The primary audience includes technology recruiters, workforce planners, and educational institutions.</a:t>
            </a:r>
          </a:p>
          <a:p>
            <a:r>
              <a:rPr lang="en-GB" sz="2000" b="1" dirty="0">
                <a:solidFill>
                  <a:schemeClr val="tx1"/>
                </a:solidFill>
              </a:rPr>
              <a:t>Value of Analysis for Strategic Planning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/>
                </a:solidFill>
              </a:rPr>
              <a:t>The analysis provides value by highlighting the gap between current skills and future interests.</a:t>
            </a:r>
          </a:p>
          <a:p>
            <a:r>
              <a:rPr lang="en-GB" sz="2000" b="1" dirty="0">
                <a:solidFill>
                  <a:schemeClr val="tx1"/>
                </a:solidFill>
              </a:rPr>
              <a:t>Value of Demographic Insights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/>
                </a:solidFill>
              </a:rPr>
              <a:t>The report offers deep insights into the developer pipeline, showing that the largest segment of respondents is in the 25-34 age group and holds a Bachelor's degree.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Data Source</a:t>
            </a:r>
          </a:p>
          <a:p>
            <a:pPr marL="0" indent="0" latinLnBrk="1">
              <a:buNone/>
            </a:pPr>
            <a:r>
              <a:rPr lang="en-GB" sz="1800" dirty="0"/>
              <a:t>The primary data source is an open-sourced subset of the </a:t>
            </a:r>
            <a:r>
              <a:rPr lang="en-GB" sz="1800" i="1" dirty="0"/>
              <a:t>Stack</a:t>
            </a:r>
          </a:p>
          <a:p>
            <a:pPr marL="0" indent="0" latinLnBrk="1">
              <a:buNone/>
            </a:pPr>
            <a:r>
              <a:rPr lang="en-GB" sz="1800" i="1" dirty="0"/>
              <a:t>Overflow Developer Survey</a:t>
            </a:r>
            <a:r>
              <a:rPr lang="en-GB" sz="1800" b="1" dirty="0"/>
              <a:t> </a:t>
            </a:r>
            <a:r>
              <a:rPr lang="en-GB" sz="1800" dirty="0"/>
              <a:t>(18845x114).</a:t>
            </a:r>
          </a:p>
          <a:p>
            <a:r>
              <a:rPr lang="en-US" sz="2000" b="1" dirty="0"/>
              <a:t>Data Collection</a:t>
            </a:r>
          </a:p>
          <a:p>
            <a:pPr marL="0" indent="0">
              <a:buNone/>
            </a:pPr>
            <a:r>
              <a:rPr lang="en-US" sz="1800" dirty="0"/>
              <a:t>APIs and Web Scraping.</a:t>
            </a:r>
          </a:p>
          <a:p>
            <a:r>
              <a:rPr lang="en-US" sz="2000" b="1" dirty="0"/>
              <a:t>Data Wrangling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Duplicate removal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Handling missing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Data standardization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Handling outliers to prevent skewed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Data normalization using statistical methods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Multi-value splitting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8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F3AD4-59AD-6D75-1924-0C0C1F1A6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8" y="2565109"/>
            <a:ext cx="5547053" cy="3167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F80EC8-5BDF-2E2F-15FF-80F89B546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65109"/>
            <a:ext cx="5248731" cy="31674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JavaScript and SQL dominance</a:t>
            </a:r>
          </a:p>
          <a:p>
            <a:r>
              <a:rPr lang="en-US" sz="2400" dirty="0"/>
              <a:t>New contenders (Go and Rust)</a:t>
            </a:r>
          </a:p>
          <a:p>
            <a:r>
              <a:rPr lang="en-US" sz="2400" dirty="0"/>
              <a:t>Java declining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Web tech is the core</a:t>
            </a:r>
          </a:p>
          <a:p>
            <a:r>
              <a:rPr lang="en-US" sz="2400" dirty="0"/>
              <a:t>Modernization shift</a:t>
            </a:r>
          </a:p>
          <a:p>
            <a:r>
              <a:rPr lang="en-US" sz="2400" dirty="0"/>
              <a:t>Talent competition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current year goes here 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next year goes here.&gt;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6BF34-AA3C-0A02-9152-73384EDC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93" y="2575070"/>
            <a:ext cx="5296329" cy="2882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C6FF57-858D-609F-69F4-DB12E7E21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931" y="2575070"/>
            <a:ext cx="5300136" cy="28826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PostgreSQL dominance</a:t>
            </a:r>
          </a:p>
          <a:p>
            <a:r>
              <a:rPr lang="en-US" sz="2400" dirty="0"/>
              <a:t>Redis surge</a:t>
            </a:r>
          </a:p>
          <a:p>
            <a:r>
              <a:rPr lang="en-US" sz="2400" dirty="0"/>
              <a:t>Oracle out, </a:t>
            </a:r>
            <a:r>
              <a:rPr lang="en-US" sz="2400" dirty="0" err="1"/>
              <a:t>Supabase</a:t>
            </a:r>
            <a:r>
              <a:rPr lang="en-US" sz="2400" dirty="0"/>
              <a:t> 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Open </a:t>
            </a:r>
            <a:r>
              <a:rPr lang="en-US" sz="2400" dirty="0" err="1"/>
              <a:t>Scource</a:t>
            </a:r>
            <a:r>
              <a:rPr lang="en-US" sz="2400" dirty="0"/>
              <a:t> Wins</a:t>
            </a:r>
          </a:p>
          <a:p>
            <a:r>
              <a:rPr lang="en-US" sz="2400" dirty="0"/>
              <a:t>Performance is priority</a:t>
            </a:r>
          </a:p>
          <a:p>
            <a:r>
              <a:rPr lang="en-US" sz="2400" dirty="0"/>
              <a:t>Developer experience matters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key insights shown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01F3B-86F1-F565-F6FE-A8B4FC1D1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2" y="1523207"/>
            <a:ext cx="7090999" cy="4686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C84757-ADA8-BFAF-7FEF-912BF769D3C0}"/>
              </a:ext>
            </a:extLst>
          </p:cNvPr>
          <p:cNvSpPr txBox="1"/>
          <p:nvPr/>
        </p:nvSpPr>
        <p:spPr>
          <a:xfrm>
            <a:off x="7943850" y="1523207"/>
            <a:ext cx="360997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JavaScript Ecosystem Dominates:</a:t>
            </a:r>
          </a:p>
          <a:p>
            <a:r>
              <a:rPr lang="en-GB" sz="1400" dirty="0"/>
              <a:t>JavaScript is the #1 language, and its related frameworks represent the largest share of the web framework landscape. This confirms a highly unified stack for modern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PostgreSQL is the "Gold Standard":</a:t>
            </a:r>
          </a:p>
          <a:p>
            <a:r>
              <a:rPr lang="en-GB" sz="1400" dirty="0"/>
              <a:t> In a fragmented database market, PostgreSQL holds a massive lead over competitors like MySQL and SQLite. It has nearly double the usage of secondary options like MongoDB or Redis.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Cloud is a Three-Horse Race:</a:t>
            </a:r>
          </a:p>
          <a:p>
            <a:r>
              <a:rPr lang="en-GB" sz="1400" dirty="0"/>
              <a:t>The platform word cloud shows AWS, Google Cloud, and MS Azure as the overwhelming leaders. While niche players like </a:t>
            </a:r>
            <a:r>
              <a:rPr lang="en-GB" sz="1400" dirty="0" err="1"/>
              <a:t>Vercel</a:t>
            </a:r>
            <a:r>
              <a:rPr lang="en-GB" sz="1400" dirty="0"/>
              <a:t> and Digital Ocean are present, the "Big Three" remain the primary infrastructure choice for developers.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future trends.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FE118-71F7-F008-F11A-75441C3AF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64" y="1548247"/>
            <a:ext cx="7095744" cy="4248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8E6CD6-84E1-4868-86B0-9E08207280E4}"/>
              </a:ext>
            </a:extLst>
          </p:cNvPr>
          <p:cNvSpPr txBox="1"/>
          <p:nvPr/>
        </p:nvSpPr>
        <p:spPr>
          <a:xfrm>
            <a:off x="7962900" y="1548246"/>
            <a:ext cx="350173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AWS remains the undisputed leader:</a:t>
            </a:r>
          </a:p>
          <a:p>
            <a:r>
              <a:rPr lang="en-GB" sz="1400" dirty="0"/>
              <a:t>While developers show interest in a variety of platforms, AWS maintains the largest footprint in future interest, significantly outpacing Google Cloud and MS Azure in the </a:t>
            </a:r>
            <a:r>
              <a:rPr lang="en-GB" sz="1400" dirty="0" err="1"/>
              <a:t>treemap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Rise of High-Performance Tools:</a:t>
            </a:r>
          </a:p>
          <a:p>
            <a:r>
              <a:rPr lang="en-GB" sz="1400" dirty="0"/>
              <a:t>Future interest is shifting toward speed and efficiency, evidenced by Go and Rust appearing in the top languages, and Redis climbing to the #2 most desired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Framework Consolidation:</a:t>
            </a:r>
          </a:p>
          <a:p>
            <a:r>
              <a:rPr lang="en-GB" sz="1400" dirty="0"/>
              <a:t>Interest is heavily concentrated in a few "heavy hitters." React and Node.js continue to dominate the </a:t>
            </a:r>
            <a:r>
              <a:rPr lang="en-GB" sz="1400" dirty="0" err="1"/>
              <a:t>webframe</a:t>
            </a:r>
            <a:r>
              <a:rPr lang="en-GB" sz="1400" dirty="0"/>
              <a:t> bubble chart, indicating that the industry is doubling down on these ecosystems rather than fragmenting into new alternatives.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  <a:p>
            <a:r>
              <a:rPr lang="en-US" dirty="0"/>
              <a:t>Dashboard Insight</a:t>
            </a:r>
          </a:p>
          <a:p>
            <a:r>
              <a:rPr lang="en-IN" dirty="0"/>
              <a:t>Summarize demographic insights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6136E-A34B-6DA5-455B-1C4E7B01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9"/>
            <a:ext cx="704850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E4B5D3-553F-E060-6C09-195F26EDB44F}"/>
              </a:ext>
            </a:extLst>
          </p:cNvPr>
          <p:cNvSpPr txBox="1"/>
          <p:nvPr/>
        </p:nvSpPr>
        <p:spPr>
          <a:xfrm>
            <a:off x="8191500" y="1366838"/>
            <a:ext cx="31623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Dominant Age Bracket:</a:t>
            </a:r>
          </a:p>
          <a:p>
            <a:r>
              <a:rPr lang="en-GB" sz="1400" dirty="0"/>
              <a:t>The tech workforce is overwhelmingly young to mid-career, with 41.3% of respondents in the 25-34 age group. This remains the primary demographic for the industry.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Education Benchmark:</a:t>
            </a:r>
          </a:p>
          <a:p>
            <a:r>
              <a:rPr lang="en-GB" sz="1400" dirty="0"/>
              <a:t>A Bachelor’s degree (8,629) is the most common formal education level, followed by Master’s degrees. This indicates that while "self-taught" paths exist, formal higher education remains the standard entry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The "Experience Gap" in Education:</a:t>
            </a:r>
          </a:p>
          <a:p>
            <a:r>
              <a:rPr lang="en-GB" sz="1400" dirty="0"/>
              <a:t>The bar chart shows that as developers age into the 25-34 and 35-44 brackets, the proportion of Master’s degrees increases significantly compared to the 18-24 group, suggesting a trend toward advanced specialization as careers progress.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>
            <a:normAutofit fontScale="47500" lnSpcReduction="20000"/>
          </a:bodyPr>
          <a:lstStyle/>
          <a:p>
            <a:r>
              <a:rPr lang="en-GB" b="1" dirty="0"/>
              <a:t>1. The Market is Consolidating Around "Gold Standards"</a:t>
            </a:r>
          </a:p>
          <a:p>
            <a:pPr marL="0" indent="0">
              <a:buNone/>
            </a:pPr>
            <a:r>
              <a:rPr lang="en-GB" dirty="0"/>
              <a:t>While the tech landscape is vast, both current and future data show a massive concentration of talent around specific "winners." </a:t>
            </a:r>
            <a:r>
              <a:rPr lang="en-GB" b="1" dirty="0"/>
              <a:t>JavaScript</a:t>
            </a:r>
            <a:r>
              <a:rPr lang="en-GB" dirty="0"/>
              <a:t> (and its React/Node ecosystem), </a:t>
            </a:r>
            <a:r>
              <a:rPr lang="en-GB" b="1" dirty="0"/>
              <a:t>SQL</a:t>
            </a:r>
            <a:r>
              <a:rPr lang="en-GB" dirty="0"/>
              <a:t> (specifically PostgreSQL), and </a:t>
            </a:r>
            <a:r>
              <a:rPr lang="en-GB" b="1" dirty="0"/>
              <a:t>AWS</a:t>
            </a:r>
            <a:r>
              <a:rPr lang="en-GB" dirty="0"/>
              <a:t> form a dominant "super-stack." Developers aren't just using these; they actively want to stay within these ecosystems, suggesting they have become the industry's default infrastructure.</a:t>
            </a:r>
          </a:p>
          <a:p>
            <a:r>
              <a:rPr lang="en-GB" b="1" dirty="0"/>
              <a:t>2. A Significant Shift Toward Performance &amp; Type-Safety</a:t>
            </a:r>
          </a:p>
          <a:p>
            <a:pPr marL="0" indent="0">
              <a:buNone/>
            </a:pPr>
            <a:r>
              <a:rPr lang="en-GB" dirty="0"/>
              <a:t>There is a clear "modernization" trend occurring. The high future interest in </a:t>
            </a:r>
            <a:r>
              <a:rPr lang="en-GB" b="1" dirty="0"/>
              <a:t>Rust, Go, and TypeScript</a:t>
            </a:r>
            <a:r>
              <a:rPr lang="en-GB" dirty="0"/>
              <a:t>—paired with the rising desirability of </a:t>
            </a:r>
            <a:r>
              <a:rPr lang="en-GB" b="1" dirty="0"/>
              <a:t>Redis</a:t>
            </a:r>
            <a:r>
              <a:rPr lang="en-GB" dirty="0"/>
              <a:t>—indicates that developers are moving away from the "move fast and break things" era. Instead, they are prioritizing memory safety, strict typing, and high-concurrency performance for the next generation of applications.</a:t>
            </a:r>
          </a:p>
          <a:p>
            <a:r>
              <a:rPr lang="en-GB" b="1" dirty="0"/>
              <a:t>3. The "Legacy Exit" for Enterprise Stalwarts</a:t>
            </a:r>
          </a:p>
          <a:p>
            <a:pPr marL="0" indent="0">
              <a:buNone/>
            </a:pPr>
            <a:r>
              <a:rPr lang="en-GB" dirty="0"/>
              <a:t>Traditional enterprise heavyweights like </a:t>
            </a:r>
            <a:r>
              <a:rPr lang="en-GB" b="1" dirty="0"/>
              <a:t>Java, PHP, and Oracle</a:t>
            </a:r>
            <a:r>
              <a:rPr lang="en-GB" dirty="0"/>
              <a:t> are facing a "desirability deficit." While they still have high current usage, they are being replaced in future trend charts by more modern alternatives (like </a:t>
            </a:r>
            <a:r>
              <a:rPr lang="en-GB" dirty="0" err="1"/>
              <a:t>Supabase</a:t>
            </a:r>
            <a:r>
              <a:rPr lang="en-GB" dirty="0"/>
              <a:t> and Go). This suggests that while these technologies remain critical for existing systems, new project starts and developer enthusiasm are moving elsewhere.</a:t>
            </a:r>
          </a:p>
          <a:p>
            <a:r>
              <a:rPr lang="en-GB" b="1" dirty="0"/>
              <a:t>4. A Young, Highly-Educated, Global Workforce</a:t>
            </a:r>
          </a:p>
          <a:p>
            <a:pPr marL="0" indent="0">
              <a:buNone/>
            </a:pPr>
            <a:r>
              <a:rPr lang="en-GB" dirty="0"/>
              <a:t>The demographic data shows that the industry is </a:t>
            </a:r>
            <a:r>
              <a:rPr lang="en-GB" dirty="0" err="1"/>
              <a:t>fueled</a:t>
            </a:r>
            <a:r>
              <a:rPr lang="en-GB" dirty="0"/>
              <a:t> by a "prime-age" workforce (</a:t>
            </a:r>
            <a:r>
              <a:rPr lang="en-GB" b="1" dirty="0"/>
              <a:t>25-34</a:t>
            </a:r>
            <a:r>
              <a:rPr lang="en-GB" dirty="0"/>
              <a:t>) that values formal education (Bachelor's and Master's). This group is globally distributed but shares a very narrow set of tool preferences, creating a worldwide standardized "language" of development that allows for high mobility across different cloud platforms and frameworks.</a:t>
            </a:r>
            <a:endParaRPr lang="en-GB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Platform &amp; Language Consolidation.</a:t>
            </a:r>
          </a:p>
          <a:p>
            <a:r>
              <a:rPr lang="en-US" dirty="0"/>
              <a:t>Performance Migration</a:t>
            </a:r>
          </a:p>
          <a:p>
            <a:r>
              <a:rPr lang="en-GB" dirty="0"/>
              <a:t>Demographic Homogeneity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Skill Standardization.</a:t>
            </a:r>
          </a:p>
          <a:p>
            <a:r>
              <a:rPr lang="en-GB" dirty="0"/>
              <a:t>Tech Debt Risks.</a:t>
            </a:r>
          </a:p>
          <a:p>
            <a:r>
              <a:rPr lang="en-GB" dirty="0"/>
              <a:t>Targeted Talent Strategy.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60823-147C-ED2F-2D6C-5DA579E1F660}"/>
              </a:ext>
            </a:extLst>
          </p:cNvPr>
          <p:cNvSpPr txBox="1"/>
          <p:nvPr/>
        </p:nvSpPr>
        <p:spPr>
          <a:xfrm>
            <a:off x="4343400" y="2071415"/>
            <a:ext cx="6915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JavaScript, PostgreSQL, and AWS remain the undisputed standards for current and future development.</a:t>
            </a:r>
          </a:p>
          <a:p>
            <a:endParaRPr lang="en-GB" dirty="0"/>
          </a:p>
          <a:p>
            <a:r>
              <a:rPr lang="en-GB" dirty="0"/>
              <a:t>Interest is shifting from legacy languages (Java/PHP) to high-performance, type-safe tools like Rust, Go, and TypeScript.</a:t>
            </a:r>
          </a:p>
          <a:p>
            <a:endParaRPr lang="en-GB" dirty="0"/>
          </a:p>
          <a:p>
            <a:r>
              <a:rPr lang="en-GB" dirty="0"/>
              <a:t>Growth is </a:t>
            </a:r>
            <a:r>
              <a:rPr lang="en-GB" dirty="0" err="1"/>
              <a:t>favoring</a:t>
            </a:r>
            <a:r>
              <a:rPr lang="en-GB" dirty="0"/>
              <a:t> modern, cloud-native platforms and tools (</a:t>
            </a:r>
            <a:r>
              <a:rPr lang="en-GB" dirty="0" err="1"/>
              <a:t>Supabase</a:t>
            </a:r>
            <a:r>
              <a:rPr lang="en-GB" dirty="0"/>
              <a:t>/</a:t>
            </a:r>
            <a:r>
              <a:rPr lang="en-GB" dirty="0" err="1"/>
              <a:t>Vercel</a:t>
            </a:r>
            <a:r>
              <a:rPr lang="en-GB" dirty="0"/>
              <a:t>) that prioritize developer experience.</a:t>
            </a:r>
          </a:p>
          <a:p>
            <a:endParaRPr lang="en-GB" dirty="0"/>
          </a:p>
          <a:p>
            <a:r>
              <a:rPr lang="en-GB" dirty="0"/>
              <a:t>The industry is driven by a young (25–34), highly educated global workforce with unified tooling preferences.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1172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Courier New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Technology Trends and Analysis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ΖΕΚΑ ΧΡΙΣΤΙΝΑ</cp:lastModifiedBy>
  <cp:revision>7</cp:revision>
  <dcterms:created xsi:type="dcterms:W3CDTF">2024-10-30T05:40:03Z</dcterms:created>
  <dcterms:modified xsi:type="dcterms:W3CDTF">2026-04-27T13:37:40Z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